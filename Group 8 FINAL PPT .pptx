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6" r:id="rId1"/>
  </p:sldMasterIdLst>
  <p:notesMasterIdLst>
    <p:notesMasterId r:id="rId16"/>
  </p:notesMasterIdLst>
  <p:sldIdLst>
    <p:sldId id="259" r:id="rId2"/>
    <p:sldId id="256" r:id="rId3"/>
    <p:sldId id="257" r:id="rId4"/>
    <p:sldId id="258" r:id="rId5"/>
    <p:sldId id="261" r:id="rId6"/>
    <p:sldId id="262" r:id="rId7"/>
    <p:sldId id="263" r:id="rId8"/>
    <p:sldId id="267" r:id="rId9"/>
    <p:sldId id="268" r:id="rId10"/>
    <p:sldId id="266" r:id="rId11"/>
    <p:sldId id="264" r:id="rId12"/>
    <p:sldId id="269" r:id="rId13"/>
    <p:sldId id="265" r:id="rId14"/>
    <p:sldId id="260" r:id="rId15"/>
  </p:sldIdLst>
  <p:sldSz cx="10080625" cy="7559675"/>
  <p:notesSz cx="7559675" cy="10691813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 autoAdjust="0"/>
    <p:restoredTop sz="94632" autoAdjust="0"/>
  </p:normalViewPr>
  <p:slideViewPr>
    <p:cSldViewPr>
      <p:cViewPr varScale="1">
        <p:scale>
          <a:sx n="82" d="100"/>
          <a:sy n="82" d="100"/>
        </p:scale>
        <p:origin x="1234" y="67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0CF4B43D-491D-C602-328B-BE86EAF5DBC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15900" y="812800"/>
            <a:ext cx="7126288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C56148F-65FB-044B-8C44-C7CBDB651BB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D1D322D-3766-A145-D6BB-F6171A7D53DA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5A019D7-02E5-F6D4-BF2A-1F1DDF64EFF7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74BAD343-3D6E-A20F-2945-F78E83EA56EB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74D66CF-FF0E-7320-E865-02EFF7B9BC4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fld id="{AB06AE92-0EA4-41ED-81D6-744C2943D14D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>
            <a:extLst>
              <a:ext uri="{FF2B5EF4-FFF2-40B4-BE49-F238E27FC236}">
                <a16:creationId xmlns:a16="http://schemas.microsoft.com/office/drawing/2014/main" id="{02579D8C-6C6F-8BB4-1140-81BFA9EB498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94CB0A8-A6F7-4590-A5D3-546DB09F75D9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IN" altLang="en-US" sz="1400"/>
          </a:p>
        </p:txBody>
      </p:sp>
      <p:sp>
        <p:nvSpPr>
          <p:cNvPr id="7171" name="Rectangle 1">
            <a:extLst>
              <a:ext uri="{FF2B5EF4-FFF2-40B4-BE49-F238E27FC236}">
                <a16:creationId xmlns:a16="http://schemas.microsoft.com/office/drawing/2014/main" id="{25C5AC41-EE31-EE29-60F9-16D3D03B00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625B2A3B-8D4C-E323-A9EA-E32516649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DBA7062-89AD-2D81-8953-6FC78873556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1CD7EE3-158C-47E5-96AE-72270A75B8A4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IN" altLang="en-US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4DF08256-9640-C4F4-AC8B-8C1D347C30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112CBC3E-CB02-98D8-0387-233280DBC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>
            <a:extLst>
              <a:ext uri="{FF2B5EF4-FFF2-40B4-BE49-F238E27FC236}">
                <a16:creationId xmlns:a16="http://schemas.microsoft.com/office/drawing/2014/main" id="{99FB8F62-7B9F-F6D6-8CD5-A0C27369885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B169F26-4CAC-4B4F-861B-78C14EBDF331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IN" altLang="en-US" sz="1400"/>
          </a:p>
        </p:txBody>
      </p:sp>
      <p:sp>
        <p:nvSpPr>
          <p:cNvPr id="11267" name="Rectangle 1">
            <a:extLst>
              <a:ext uri="{FF2B5EF4-FFF2-40B4-BE49-F238E27FC236}">
                <a16:creationId xmlns:a16="http://schemas.microsoft.com/office/drawing/2014/main" id="{0A098328-091E-91B0-9BE8-C86187E37B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BD358408-1710-E1C5-9B9B-2282FE106B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A4C98480-88D4-E90A-08A3-97E134F67E4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5B39C6-6FCD-4F6B-A97F-99A26539BD05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IN" altLang="en-US" sz="1400"/>
          </a:p>
        </p:txBody>
      </p:sp>
      <p:sp>
        <p:nvSpPr>
          <p:cNvPr id="13315" name="Rectangle 1">
            <a:extLst>
              <a:ext uri="{FF2B5EF4-FFF2-40B4-BE49-F238E27FC236}">
                <a16:creationId xmlns:a16="http://schemas.microsoft.com/office/drawing/2014/main" id="{7273468E-1AA1-515A-5084-81893DFA43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97016F54-1CB3-BCF2-EEDA-79BF3D69C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>
            <a:extLst>
              <a:ext uri="{FF2B5EF4-FFF2-40B4-BE49-F238E27FC236}">
                <a16:creationId xmlns:a16="http://schemas.microsoft.com/office/drawing/2014/main" id="{D4F95EA1-C54D-7E65-EDF2-47746E8E379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4E9A0E8-9DBE-4F2E-9293-C880EC4568C1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IN" altLang="en-US" sz="1400"/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BA65C93A-1213-AE9E-0072-9EEDB2A1F1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B150CD1D-C86F-4E2B-B837-F0AB211FCD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>
            <a:extLst>
              <a:ext uri="{FF2B5EF4-FFF2-40B4-BE49-F238E27FC236}">
                <a16:creationId xmlns:a16="http://schemas.microsoft.com/office/drawing/2014/main" id="{3DA4F0A8-8195-6AE2-6CDF-9C9D204034D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C4748F-BDE6-427E-8130-7511D06B4477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IN" altLang="en-US" sz="1400"/>
          </a:p>
        </p:txBody>
      </p:sp>
      <p:sp>
        <p:nvSpPr>
          <p:cNvPr id="17411" name="Rectangle 1">
            <a:extLst>
              <a:ext uri="{FF2B5EF4-FFF2-40B4-BE49-F238E27FC236}">
                <a16:creationId xmlns:a16="http://schemas.microsoft.com/office/drawing/2014/main" id="{0E48A7DC-9D37-ED2D-6CBE-F604E11344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1FD5B3B9-EC57-7D59-FEC1-F6800004F5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8DEED38D-07C7-9042-2B88-CA31CD072A5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604F069-DEB4-42CB-B7E1-47DECD53D774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IN" altLang="en-US" sz="1400"/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8BB938E3-42CA-0EBF-43BC-C5448B5AE9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66BA705E-A81A-E454-2973-5185663E7F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27F72E8F-5429-E3B1-28A2-EE7F67D19B3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3C55308-C5DF-4B1F-8D91-8FF4DAA9BB8C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IN" altLang="en-US" sz="1400"/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291BC7CD-6D5D-D320-D2A2-6C04675C5D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F441629B-DA2F-88E0-FBBF-2ECCD85209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A8674AD0-5474-29BB-7B8C-757F3C96F04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F338D95-8DE4-4A68-BADE-533208FDA456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IN" altLang="en-US" sz="1400"/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B58B374C-E251-0C7D-38DD-6D183B441C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ECE06795-815E-DA87-4D52-3E7719DF11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>
            <a:extLst>
              <a:ext uri="{FF2B5EF4-FFF2-40B4-BE49-F238E27FC236}">
                <a16:creationId xmlns:a16="http://schemas.microsoft.com/office/drawing/2014/main" id="{9F32DF13-4A79-5C4B-2528-7AAE3B9541B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CCD6AA5-DBDD-4833-85FE-C15C090D66B4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IN" altLang="en-US" sz="1400"/>
          </a:p>
        </p:txBody>
      </p:sp>
      <p:sp>
        <p:nvSpPr>
          <p:cNvPr id="25603" name="Rectangle 1">
            <a:extLst>
              <a:ext uri="{FF2B5EF4-FFF2-40B4-BE49-F238E27FC236}">
                <a16:creationId xmlns:a16="http://schemas.microsoft.com/office/drawing/2014/main" id="{41CFC251-A676-E71A-40F4-C7F9EE77B4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BD080383-8BA6-31F3-606C-6988C72DB8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>
            <a:extLst>
              <a:ext uri="{FF2B5EF4-FFF2-40B4-BE49-F238E27FC236}">
                <a16:creationId xmlns:a16="http://schemas.microsoft.com/office/drawing/2014/main" id="{29B7EC48-C292-087F-6165-D8FD7DD8B41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211A15D-6ECD-4F58-9A8D-5E8B577789E9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IN" altLang="en-US" sz="1400"/>
          </a:p>
        </p:txBody>
      </p:sp>
      <p:sp>
        <p:nvSpPr>
          <p:cNvPr id="27651" name="Rectangle 1">
            <a:extLst>
              <a:ext uri="{FF2B5EF4-FFF2-40B4-BE49-F238E27FC236}">
                <a16:creationId xmlns:a16="http://schemas.microsoft.com/office/drawing/2014/main" id="{465C0E31-A753-C8E3-9ACF-65B399A30E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A3AAD4F0-2EFF-B432-6F90-85997ACCE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>
            <a:extLst>
              <a:ext uri="{FF2B5EF4-FFF2-40B4-BE49-F238E27FC236}">
                <a16:creationId xmlns:a16="http://schemas.microsoft.com/office/drawing/2014/main" id="{0CC5FA9B-92FF-6571-5015-99067142E036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6" y="-8468"/>
            <a:chExt cx="9171316" cy="687493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438B85C-240D-6F8E-40D8-AA14C906F7F0}"/>
                </a:ext>
              </a:extLst>
            </p:cNvPr>
            <p:cNvCxnSpPr/>
            <p:nvPr/>
          </p:nvCxnSpPr>
          <p:spPr>
            <a:xfrm flipV="1">
              <a:off x="5130870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CEBCCAE-1034-7CF0-C5A7-A18F0BD5910A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29">
              <a:extLst>
                <a:ext uri="{FF2B5EF4-FFF2-40B4-BE49-F238E27FC236}">
                  <a16:creationId xmlns:a16="http://schemas.microsoft.com/office/drawing/2014/main" id="{B0E99566-D126-A023-B152-8FAD7C18CC24}"/>
                </a:ext>
              </a:extLst>
            </p:cNvPr>
            <p:cNvSpPr/>
            <p:nvPr/>
          </p:nvSpPr>
          <p:spPr>
            <a:xfrm>
              <a:off x="6891981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30">
              <a:extLst>
                <a:ext uri="{FF2B5EF4-FFF2-40B4-BE49-F238E27FC236}">
                  <a16:creationId xmlns:a16="http://schemas.microsoft.com/office/drawing/2014/main" id="{15E0BC48-4228-EF9F-D223-7CF732D4BFC0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31">
              <a:extLst>
                <a:ext uri="{FF2B5EF4-FFF2-40B4-BE49-F238E27FC236}">
                  <a16:creationId xmlns:a16="http://schemas.microsoft.com/office/drawing/2014/main" id="{B5187955-AD4F-21F0-8808-5D89333FBD2F}"/>
                </a:ext>
              </a:extLst>
            </p:cNvPr>
            <p:cNvSpPr/>
            <p:nvPr/>
          </p:nvSpPr>
          <p:spPr>
            <a:xfrm>
              <a:off x="6638542" y="3920066"/>
              <a:ext cx="2512788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32">
              <a:extLst>
                <a:ext uri="{FF2B5EF4-FFF2-40B4-BE49-F238E27FC236}">
                  <a16:creationId xmlns:a16="http://schemas.microsoft.com/office/drawing/2014/main" id="{8CC77338-27B2-AD72-A30A-CC1C2F1C1618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33">
              <a:extLst>
                <a:ext uri="{FF2B5EF4-FFF2-40B4-BE49-F238E27FC236}">
                  <a16:creationId xmlns:a16="http://schemas.microsoft.com/office/drawing/2014/main" id="{CC8EEC60-8C25-C0AC-ED33-9C290543C144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5FC4C901-6318-5807-A07B-ACBCA487D3A5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005BD309-7DC7-8669-DBAD-2D7BC77DC0F7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5D7E130A-30D2-F28C-8A4F-CCF84B0406F5}"/>
                </a:ext>
              </a:extLst>
            </p:cNvPr>
            <p:cNvSpPr/>
            <p:nvPr/>
          </p:nvSpPr>
          <p:spPr>
            <a:xfrm>
              <a:off x="-8466" y="-8468"/>
              <a:ext cx="863996" cy="5698391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403" y="2650553"/>
            <a:ext cx="6423553" cy="1814743"/>
          </a:xfrm>
        </p:spPr>
        <p:txBody>
          <a:bodyPr anchor="b">
            <a:noAutofit/>
          </a:bodyPr>
          <a:lstStyle>
            <a:lvl1pPr algn="r">
              <a:defRPr sz="5952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403" y="4465295"/>
            <a:ext cx="6423553" cy="1209128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2237F7FE-3F07-E3D4-5425-4541CD3AD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0C580-7A5E-4239-8C35-FAB77AA22417}" type="datetimeFigureOut">
              <a:rPr lang="en-US"/>
              <a:pPr>
                <a:defRPr/>
              </a:pPr>
              <a:t>4/1/2026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2B72B78-B264-31EC-039C-307C71E46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E816140-843D-F9DC-93B9-2E05E4AD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EE591-33F0-42BB-9A37-AB89FFB06B5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161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12ED4-36E5-C1AE-AD43-70F2A2A20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3A7DE-4750-4C11-9F05-3613029CAB05}" type="datetimeFigureOut">
              <a:rPr lang="en-US"/>
              <a:pPr>
                <a:defRPr/>
              </a:pPr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F137B-CA6D-3946-DE99-E5E2F72F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9285F-6314-4AAE-6C14-37643A6E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8293C-7C1B-4305-A69E-CD38E704C4C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56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977208"/>
            <a:ext cx="6997915" cy="2013467"/>
          </a:xfrm>
        </p:spPr>
        <p:txBody>
          <a:bodyPr anchor="b"/>
          <a:lstStyle>
            <a:lvl1pPr algn="l">
              <a:defRPr sz="440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948432"/>
          </a:xfrm>
        </p:spPr>
        <p:txBody>
          <a:bodyPr anchor="t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702B4-6FEA-7FB1-8F1B-2D5745379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C6BA3-D9AC-4768-BCCE-547183ED1797}" type="datetimeFigureOut">
              <a:rPr lang="en-US"/>
              <a:pPr>
                <a:defRPr/>
              </a:pPr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E2E1F-E914-3E82-64D9-27558AE4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92A16-D6FF-70D1-A45E-693A439E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FA0245-4420-48AF-82B7-F41BCD9AE1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636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2042" y="2381649"/>
            <a:ext cx="3404426" cy="4277832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5529" y="2381651"/>
            <a:ext cx="3404427" cy="4277834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9B2FCCD-6481-9314-1F58-E44455AF7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589777-3761-4ABB-AD80-43ED748B6181}" type="datetimeFigureOut">
              <a:rPr lang="en-US"/>
              <a:pPr>
                <a:defRPr/>
              </a:pPr>
              <a:t>4/1/2026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A4D042-713E-78DF-437A-6331EA1FE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6E9DA41-7B24-E28A-DC40-533B3EB28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50C24-A1B2-479C-814B-EB820F5D034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292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3" cy="14559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1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41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62702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62702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B8685F8-DB36-905A-8F89-6CDF9472D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D734F-24FF-4235-8C0A-E857C3C0C702}" type="datetimeFigureOut">
              <a:rPr lang="en-US"/>
              <a:pPr>
                <a:defRPr/>
              </a:pPr>
              <a:t>4/1/2026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B614919-4465-19A6-9A1A-5A109896E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8DE678-29D2-D1A7-7EF2-22A12AEA0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DAD67-7F11-4274-8BD9-4A37BB773B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821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D1A7A85-4E86-4F11-B11F-4EA08A08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3B3507-95E6-4E07-B3A2-6B77BC098802}" type="datetimeFigureOut">
              <a:rPr lang="en-US"/>
              <a:pPr>
                <a:defRPr/>
              </a:pPr>
              <a:t>4/1/2026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400817D-CE06-59B4-7337-BE53B7D7A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77EB165-95DC-A4FB-DC9B-C70BB4762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224733-E1B2-4603-9465-53CC0113A89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175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4FAD9D1-ED4F-F9CC-B2C4-3A9C0C08D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A81FB-6BD0-4B66-B5CB-D986B9FD3CA4}" type="datetimeFigureOut">
              <a:rPr lang="en-US"/>
              <a:pPr>
                <a:defRPr/>
              </a:pPr>
              <a:t>4/1/2026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1AF7747-9CAC-F1F2-EF7F-022C39E80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36B1AC0-DE70-E725-4230-35EB3300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B44F28-2D5B-45A3-B751-75B925E882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92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1651933"/>
            <a:ext cx="307598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83" y="567610"/>
            <a:ext cx="3732871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3061205"/>
            <a:ext cx="307598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377979" indent="0">
              <a:buNone/>
              <a:defRPr sz="1157"/>
            </a:lvl2pPr>
            <a:lvl3pPr marL="755957" indent="0">
              <a:buNone/>
              <a:defRPr sz="992"/>
            </a:lvl3pPr>
            <a:lvl4pPr marL="1133936" indent="0">
              <a:buNone/>
              <a:defRPr sz="827"/>
            </a:lvl4pPr>
            <a:lvl5pPr marL="1511915" indent="0">
              <a:buNone/>
              <a:defRPr sz="827"/>
            </a:lvl5pPr>
            <a:lvl6pPr marL="1889893" indent="0">
              <a:buNone/>
              <a:defRPr sz="827"/>
            </a:lvl6pPr>
            <a:lvl7pPr marL="2267872" indent="0">
              <a:buNone/>
              <a:defRPr sz="827"/>
            </a:lvl7pPr>
            <a:lvl8pPr marL="2645851" indent="0">
              <a:buNone/>
              <a:defRPr sz="827"/>
            </a:lvl8pPr>
            <a:lvl9pPr marL="3023829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E0890E1-D7CB-AB82-041E-FFE5B0665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20C40-303D-4A58-BB13-0B8EB0D96378}" type="datetimeFigureOut">
              <a:rPr lang="en-US"/>
              <a:pPr>
                <a:defRPr/>
              </a:pPr>
              <a:t>4/1/2026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5971D38-A6B9-6B6E-FF2A-CE08C5F2B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7DB83B-F2A2-97CA-B770-1CCBF302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F8F56-394A-487C-BC10-F674F5F425B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170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5291772"/>
            <a:ext cx="6997914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2041" y="671971"/>
            <a:ext cx="6997914" cy="4239192"/>
          </a:xfrm>
        </p:spPr>
        <p:txBody>
          <a:bodyPr anchor="t"/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5916496"/>
            <a:ext cx="6997914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2A8040D-35F2-EB2C-5173-19F9E6C29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DE380-13A5-49F4-91C1-DE2B183D45CA}" type="datetimeFigureOut">
              <a:rPr lang="en-US"/>
              <a:pPr>
                <a:defRPr/>
              </a:pPr>
              <a:t>4/1/2026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035E709-40AF-79BC-5466-0DD1D19CB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B5AA8F0-0214-1F34-0169-6ED2B611B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7E80D-4A11-4B62-84AB-69904779998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4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3751839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2" y="4927788"/>
            <a:ext cx="6997914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3621E-E96F-6B43-7475-33551F5B6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C7F801-482A-45F2-BBEF-65BFD9642D2D}" type="datetimeFigureOut">
              <a:rPr lang="en-US"/>
              <a:pPr>
                <a:defRPr/>
              </a:pPr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EA397-EC7A-E1FD-ED16-E93073497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708A2-2628-84C8-BBD0-C72229968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F6BD0-C214-4B0F-87F5-E759BEAFE0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2C5822-92A2-3CF6-1CE5-3EA7435755BC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2D313-D9B9-5B68-8F85-D68C3ADF2C13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13857" y="4003828"/>
            <a:ext cx="5974958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27788"/>
            <a:ext cx="6997915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2E0F327-6810-0E39-34E9-ACD2C929BB1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56AEC-92FC-47C2-B6E9-97EC4F65250E}" type="datetimeFigureOut">
              <a:rPr lang="en-US"/>
              <a:pPr>
                <a:defRPr/>
              </a:pPr>
              <a:t>4/1/2026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B8F0138-1CB8-8247-06AA-44E27BDEA9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77D8874-3671-29A4-E39A-9623FDD4C8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58192-3E32-44D3-ADA0-5E69AB6109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096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129659"/>
            <a:ext cx="6997915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AC4B2-1A6F-FCF7-33B9-CEA51677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08D5B-C39A-42F6-86C9-FEDBDD8F5721}" type="datetimeFigureOut">
              <a:rPr lang="en-US"/>
              <a:pPr>
                <a:defRPr/>
              </a:pPr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07516-BFB6-6DC2-4A53-7B286FB2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98A6B-82BD-8C6D-CCB4-6CE842EF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F0474-CB59-4B74-B54D-1F0BD266B8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501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D9F188-BB2D-AAB2-A940-408F9AE6DE3A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1AB762-66B8-3D18-1AAE-75E9C050FEB4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1B54C07-0845-4CA2-6A48-E885E4F7D15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F37B7-7FBC-4C0D-8858-06A84CB693CA}" type="datetimeFigureOut">
              <a:rPr lang="en-US"/>
              <a:pPr>
                <a:defRPr/>
              </a:pPr>
              <a:t>4/1/2026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D0074F7-C52C-594D-8E2B-D16D38AA47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CBE3002-6E74-A1A8-EB67-955554AC3A0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C6D20-53E6-4644-B8CD-AA8231FF95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71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930" y="671971"/>
            <a:ext cx="6991025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02B1E-1F95-464F-33D3-96F3D77421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838AAC-8FCB-4319-A461-142C43B4D60E}" type="datetimeFigureOut">
              <a:rPr lang="en-US"/>
              <a:pPr>
                <a:defRPr/>
              </a:pPr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67DDD-0CAB-1E2F-62AF-246D7E1618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1195F-BCB3-F862-167B-E5B09EC391F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CA985-1A41-45EA-B20F-DF1FA7F0FF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860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4E1B5-539F-9FDA-65F6-5AB4EF212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7FD09-8CB6-4885-981B-3A80A193AB26}" type="datetimeFigureOut">
              <a:rPr lang="en-US"/>
              <a:pPr>
                <a:defRPr/>
              </a:pPr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BBFA4-0714-175E-4781-68B3E684A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725E9-824C-7678-BB6C-43785CDA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5101A-67F0-4D6C-A22A-BB3D6C77D8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618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9572" y="671972"/>
            <a:ext cx="1079072" cy="578875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2041" y="671972"/>
            <a:ext cx="5727155" cy="5788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0CE46-24AF-247F-4C46-95367DCEE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CC5822-F83A-4B25-8294-BB2A574F69AE}" type="datetimeFigureOut">
              <a:rPr lang="en-US"/>
              <a:pPr>
                <a:defRPr/>
              </a:pPr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FBA84-5E17-7290-FE36-BDE039FE5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BEAAE-201E-FA8D-3F40-32FD3D7B6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27438-3211-48F5-A866-18CBE5D6CEC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74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">
            <a:extLst>
              <a:ext uri="{FF2B5EF4-FFF2-40B4-BE49-F238E27FC236}">
                <a16:creationId xmlns:a16="http://schemas.microsoft.com/office/drawing/2014/main" id="{0041C1C2-6CE1-22FE-50F0-7E8C8B1787C7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7" y="-8468"/>
            <a:chExt cx="9171317" cy="6874935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3923620-3476-F0C8-AEAB-6E0724D96F5C}"/>
                </a:ext>
              </a:extLst>
            </p:cNvPr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98DADA-3256-D599-EA25-D43B569C1683}"/>
                </a:ext>
              </a:extLst>
            </p:cNvPr>
            <p:cNvCxnSpPr/>
            <p:nvPr/>
          </p:nvCxnSpPr>
          <p:spPr>
            <a:xfrm flipV="1">
              <a:off x="5130869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5ABB60-EA20-8CD4-E642-BC25ACFF0CA3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9269243-E36C-06D0-A034-6ED193B357A1}"/>
                </a:ext>
              </a:extLst>
            </p:cNvPr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0DFC9E6-36A8-67E0-D7E2-26F957248C9F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72480CC-123A-C9BD-5234-E9D9D6F933F6}"/>
                </a:ext>
              </a:extLst>
            </p:cNvPr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20391A1-48B9-386A-FD18-1D3C10C42368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445C599-02C5-F4EF-4DC4-584228680EB8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0E4C3B7-6627-8A9C-5D14-93C49874059E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A590F02-4941-4C2B-A375-F623F7461554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659072-A172-9DC9-07A6-D68385E6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13" y="671513"/>
            <a:ext cx="6997700" cy="14557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3F94B-C2D1-DD82-F519-EC6AD267A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513" y="2381250"/>
            <a:ext cx="6997700" cy="4278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76110-F9BC-A0DD-B85E-387FADA40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07FD37E-979D-4339-848A-0400CD102A38}" type="datetimeFigureOut">
              <a:rPr lang="en-US"/>
              <a:pPr>
                <a:defRPr/>
              </a:pPr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CC2C5-EC30-2703-D1A3-4475A7DBC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2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92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62FE7-60B9-AAC8-4061-3C756F333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 smtClean="0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fld id="{C39031A6-9FF0-4F69-A41E-7A6EE1E60AE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40" r:id="rId11"/>
    <p:sldLayoutId id="2147483735" r:id="rId12"/>
    <p:sldLayoutId id="2147483741" r:id="rId13"/>
    <p:sldLayoutId id="2147483736" r:id="rId14"/>
    <p:sldLayoutId id="2147483737" r:id="rId15"/>
    <p:sldLayoutId id="2147483738" r:id="rId16"/>
  </p:sldLayoutIdLst>
  <p:txStyles>
    <p:titleStyle>
      <a:lvl1pPr algn="l" defTabSz="503238" rtl="0" fontAlgn="base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2pPr>
      <a:lvl3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3pPr>
      <a:lvl4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4pPr>
      <a:lvl5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+mn-lt"/>
          <a:ea typeface="+mn-ea"/>
          <a:cs typeface="+mn-cs"/>
        </a:defRPr>
      </a:lvl1pPr>
      <a:lvl2pPr marL="817563" indent="-3143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700" kern="1200">
          <a:solidFill>
            <a:srgbClr val="404040"/>
          </a:solidFill>
          <a:latin typeface="+mn-lt"/>
          <a:ea typeface="+mn-ea"/>
          <a:cs typeface="+mn-cs"/>
        </a:defRPr>
      </a:lvl2pPr>
      <a:lvl3pPr marL="1258888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763713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2266950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BC3F6B07-FFAF-328C-1EAB-1B1A05C0F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General Guidelines for Presentation</a:t>
            </a: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B9375FC0-B0AF-18DE-CFDB-942A351E7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/>
            </a:pPr>
            <a:r>
              <a:rPr lang="en-IN" altLang="en-US" sz="2400" dirty="0">
                <a:latin typeface="Times New Roman" panose="02020603050405020304" pitchFamily="18" charset="0"/>
                <a:cs typeface="DejaVu Sans" charset="0"/>
              </a:rPr>
              <a:t>Slides should not be too heavy with content.  Better to create point wise.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/>
            </a:pPr>
            <a:r>
              <a:rPr lang="en-IN" altLang="en-US" sz="2400" dirty="0">
                <a:latin typeface="Times New Roman" panose="02020603050405020304" pitchFamily="18" charset="0"/>
                <a:cs typeface="DejaVu Sans" charset="0"/>
              </a:rPr>
              <a:t>If you require more than one slide for any point, right click on that point slide then select duplicate slide and modify the duplicated slide.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/>
            </a:pPr>
            <a:r>
              <a:rPr lang="en-IN" altLang="en-US" sz="2400" dirty="0">
                <a:latin typeface="Times New Roman" panose="02020603050405020304" pitchFamily="18" charset="0"/>
                <a:cs typeface="DejaVu Sans" charset="0"/>
              </a:rPr>
              <a:t>Diagrams must be aligned at centre and clearly visible with caption.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/>
            </a:pPr>
            <a:r>
              <a:rPr lang="en-IN" altLang="en-US" sz="2400" dirty="0">
                <a:latin typeface="Times New Roman" panose="02020603050405020304" pitchFamily="18" charset="0"/>
                <a:cs typeface="DejaVu Sans" charset="0"/>
              </a:rPr>
              <a:t>All the mentioned fonts, font size, title content, etc should not change and strictly as per the given format and guidelines.</a:t>
            </a:r>
          </a:p>
          <a:p>
            <a: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400" dirty="0">
              <a:cs typeface="DejaVu Sans" charset="0"/>
            </a:endParaRPr>
          </a:p>
          <a:p>
            <a:pPr marL="4318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400" dirty="0">
              <a:cs typeface="DejaVu Sa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78A6FC22-A96C-1885-C284-32806BC7A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54673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name:-APSIT CONNECT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Name:-Aryan </a:t>
            </a:r>
            <a:r>
              <a:rPr lang="en-IN" altLang="en-US" sz="3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salunke</a:t>
            </a: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(24107115)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Kartik Nair(23107123)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Siddhant Tidke(23107083)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Gautam Mandal(24107109)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Ms.Ujwala</a:t>
            </a:r>
            <a:r>
              <a:rPr lang="en-I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Pagare</a:t>
            </a:r>
            <a:endParaRPr lang="en-IN" altLang="en-US" sz="2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8B8179-B3AD-6C0D-8D5D-4FD01B80B637}"/>
              </a:ext>
            </a:extLst>
          </p:cNvPr>
          <p:cNvCxnSpPr/>
          <p:nvPr/>
        </p:nvCxnSpPr>
        <p:spPr>
          <a:xfrm>
            <a:off x="0" y="1743075"/>
            <a:ext cx="10080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73CE51F-3A0D-E00E-C6A7-3F283196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80625" cy="1952477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5CA18294-F88C-CFF0-99E0-03503B1A2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44463"/>
            <a:ext cx="907097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Contents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BD23A965-4B11-9815-DCD3-450EB32A2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116013"/>
            <a:ext cx="9323388" cy="557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Introduction</a:t>
            </a:r>
          </a:p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Objectives</a:t>
            </a:r>
          </a:p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Scope</a:t>
            </a:r>
          </a:p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Features / Functionality</a:t>
            </a:r>
          </a:p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Project Outcomes</a:t>
            </a:r>
          </a:p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Technology Stack</a:t>
            </a:r>
          </a:p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Block Diagram if applicable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7FB9FEF0-4C42-9E47-0D17-EDD84657B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845" y="0"/>
            <a:ext cx="9286429" cy="1656184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1. Introduction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E5D4CEF6-1C42-282B-5810-87601B7BD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5251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450850" indent="-342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935038" indent="-342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r>
              <a:rPr lang="en-US" sz="2400" b="1" dirty="0"/>
              <a:t>Problem Identified 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face difficulty accessing academic materials like notes, assignment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project files from a single platform.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students and faculty for doubt solving is limited and not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organized.</a:t>
            </a:r>
          </a:p>
          <a:p>
            <a:pPr eaLnBrk="1" hangingPunct="1">
              <a:lnSpc>
                <a:spcPct val="93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endParaRPr lang="en-I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7950" indent="0" eaLnBrk="1" hangingPunct="1">
              <a:lnSpc>
                <a:spcPct val="93000"/>
              </a:lnSpc>
              <a:spcAft>
                <a:spcPts val="1413"/>
              </a:spcAft>
            </a:pP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Proposed :</a:t>
            </a:r>
          </a:p>
          <a:p>
            <a:pPr marL="107950" indent="0" eaLnBrk="1" hangingPunct="1">
              <a:lnSpc>
                <a:spcPct val="93000"/>
              </a:lnSpc>
              <a:spcAft>
                <a:spcPts val="1413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APSIT Connect is a centralized platform where students can upload and download academic resources easily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7950" indent="0" eaLnBrk="1" hangingPunct="1">
              <a:lnSpc>
                <a:spcPct val="93000"/>
              </a:lnSpc>
              <a:spcAft>
                <a:spcPts val="1413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provides a discussion forum where students can ask doubts and receive guidance from faculty members.</a:t>
            </a:r>
            <a:endParaRPr lang="en-I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3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endParaRPr lang="en-I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3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endParaRPr lang="en-I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7950" indent="0"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3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endParaRPr lang="en-I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3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endParaRPr lang="en-I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1836E394-6284-0F1C-14C2-7EACE37FE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2. Objectives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941077D7-5B1D-66CE-4C6F-9541475E6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1.To build a login and registration system so only verified students can access the platform</a:t>
            </a:r>
          </a:p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2.To develop a module where students can upload and download academic materials like notes, assignments, and project files.</a:t>
            </a:r>
          </a:p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3.To implement subject-wise and year-wise organization of academic content for easy searching.</a:t>
            </a:r>
          </a:p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4.To create a discussion section where students can ask doubts and get guidance from faculty.</a:t>
            </a: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7F8C0C07-FBCA-0958-BC8B-6078CE28D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3. Scope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21B9B78B-6DB4-CE3F-BBBF-C04BA6955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566737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buAutoNum type="arabicPeriod"/>
              <a:defRPr/>
            </a:pPr>
            <a:r>
              <a:rPr lang="en-US" sz="2400" dirty="0"/>
              <a:t>Can be applied in colleges for academic resource sharing.</a:t>
            </a:r>
          </a:p>
          <a:p>
            <a:r>
              <a:rPr lang="en-US" sz="2400" dirty="0"/>
              <a:t>2. Useful for students and faculty for knowledge exchange.</a:t>
            </a:r>
          </a:p>
          <a:p>
            <a:endParaRPr lang="en-US" sz="2400" dirty="0"/>
          </a:p>
          <a:p>
            <a:r>
              <a:rPr lang="en-US" sz="2400" dirty="0"/>
              <a:t>3. Can be used for assignment and project collaboration.</a:t>
            </a:r>
          </a:p>
          <a:p>
            <a:endParaRPr lang="en-US" sz="2400" dirty="0"/>
          </a:p>
          <a:p>
            <a:r>
              <a:rPr lang="en-US" sz="2400" dirty="0"/>
              <a:t>4. Can improve academic communication.</a:t>
            </a:r>
          </a:p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0E14BDAB-7AB7-330F-A3C5-66679F05F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4. Feature /Functionality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5465FB5B-B762-79C8-BC13-CB4495D25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9"/>
            <a:ext cx="9070975" cy="51943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US" sz="2400" b="1" dirty="0"/>
              <a:t>Feature 1: Login System</a:t>
            </a:r>
            <a:br>
              <a:rPr lang="en-US" sz="2400" dirty="0"/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log in using email and password with role selection (Student or Teacher) for secure access.</a:t>
            </a:r>
          </a:p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US" sz="2400" b="1" dirty="0"/>
              <a:t>Feature 2: Role-Based Dashboard</a:t>
            </a:r>
            <a:br>
              <a:rPr lang="en-US" sz="2400" dirty="0"/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 dashboard with modules such as Attendance, Notes, Discussion, and Assignments according to the user role.</a:t>
            </a:r>
          </a:p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US" sz="2400" b="1" dirty="0"/>
              <a:t>Feature 3: Attendance Module</a:t>
            </a:r>
            <a:br>
              <a:rPr lang="en-US" sz="2400" dirty="0"/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section where students can view attendance and teachers can manage attendance records.</a:t>
            </a:r>
          </a:p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US" sz="2400" b="1" dirty="0"/>
              <a:t>Feature </a:t>
            </a:r>
            <a:r>
              <a:rPr lang="en-IN" sz="2400" dirty="0"/>
              <a:t>4</a:t>
            </a:r>
            <a:r>
              <a:rPr lang="en-US" sz="2400" b="1" dirty="0"/>
              <a:t>: Discussion Module</a:t>
            </a:r>
            <a:br>
              <a:rPr lang="en-US" sz="2400" dirty="0"/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platform where students can ask doubts and teachers can respond.</a:t>
            </a: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C40976-26F5-8D15-73E7-9E264FFF9655}"/>
              </a:ext>
            </a:extLst>
          </p:cNvPr>
          <p:cNvSpPr txBox="1"/>
          <p:nvPr/>
        </p:nvSpPr>
        <p:spPr>
          <a:xfrm>
            <a:off x="935856" y="2123653"/>
            <a:ext cx="777686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SDG 4 – Quality Education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APSIT Connect improves access to academic resources like notes, assignments, and discussions on a single platform.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It enhances learning efficiency and student–faculty interaction, leading to better academic outcomes. 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SDG 9 – Industry, Innovation and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The project provides a digital academic infrastructure for managing and sharing educational content efficiently.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It promotes innovation by replacing traditional, unorganized communication with a structured platform.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30568-E653-DA3C-D66F-8494780ED42A}"/>
              </a:ext>
            </a:extLst>
          </p:cNvPr>
          <p:cNvSpPr txBox="1"/>
          <p:nvPr/>
        </p:nvSpPr>
        <p:spPr>
          <a:xfrm>
            <a:off x="863848" y="755501"/>
            <a:ext cx="73448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SDGs as per the UN framework, which NBA institutions typically align their programs to:</a:t>
            </a:r>
            <a:endParaRPr lang="en-IN" sz="2400" u="sng" dirty="0"/>
          </a:p>
        </p:txBody>
      </p:sp>
    </p:spTree>
    <p:extLst>
      <p:ext uri="{BB962C8B-B14F-4D97-AF65-F5344CB8AC3E}">
        <p14:creationId xmlns:p14="http://schemas.microsoft.com/office/powerpoint/2010/main" val="449809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A42E24-AA63-CF0D-BB93-2F31C991B2A4}"/>
              </a:ext>
            </a:extLst>
          </p:cNvPr>
          <p:cNvSpPr txBox="1"/>
          <p:nvPr/>
        </p:nvSpPr>
        <p:spPr>
          <a:xfrm>
            <a:off x="431800" y="1115541"/>
            <a:ext cx="77048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SDG 10 – Reduced Inequalities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Ensures equal access to study materials and academic support for all students. 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Reduces dependency on informal sources, minimizing gaps between students. 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SDG 11 – Sustainable Cities and Communities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Encourages digital sharing of resources, reducing reliance on paper and physical distribution.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Supports a more organized and connected academic environment within the institution.</a:t>
            </a:r>
          </a:p>
        </p:txBody>
      </p:sp>
    </p:spTree>
    <p:extLst>
      <p:ext uri="{BB962C8B-B14F-4D97-AF65-F5344CB8AC3E}">
        <p14:creationId xmlns:p14="http://schemas.microsoft.com/office/powerpoint/2010/main" val="3508333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7D726CAD-BB71-8ECF-097C-0EE3A8FA5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5. Outcome of Project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8C2CA3C4-8126-64D4-B0F6-F30D2F72B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907629"/>
            <a:ext cx="9145586" cy="485036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800"/>
              </a:spcAft>
              <a:buChar char="1."/>
            </a:pPr>
            <a:r>
              <a:rPr lang="en-IN" altLang="en-US" sz="2000" b="1" dirty="0">
                <a:latin typeface="Times New Roman" panose="02020603050405020304" pitchFamily="18" charset="0"/>
              </a:rPr>
              <a:t>Centralized Academic Resource Platform: </a:t>
            </a:r>
            <a:r>
              <a:rPr lang="en-IN" altLang="en-US" sz="2000" b="0" dirty="0">
                <a:latin typeface="Times New Roman" panose="02020603050405020304" pitchFamily="18" charset="0"/>
              </a:rPr>
              <a:t>A fully functional web/mobile platform where students can upload and download notes, assignments, and project files in a subject-wise and year-wise organized manner.</a:t>
            </a:r>
          </a:p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800"/>
              </a:spcAft>
              <a:buChar char="2."/>
            </a:pPr>
            <a:r>
              <a:rPr lang="en-IN" altLang="en-US" sz="2000" b="1" dirty="0">
                <a:latin typeface="Times New Roman" panose="02020603050405020304" pitchFamily="18" charset="0"/>
              </a:rPr>
              <a:t>Secure Role-Based Access: </a:t>
            </a:r>
            <a:r>
              <a:rPr lang="en-IN" altLang="en-US" sz="2000" b="0" dirty="0">
                <a:latin typeface="Times New Roman" panose="02020603050405020304" pitchFamily="18" charset="0"/>
              </a:rPr>
              <a:t>Implemented a login and registration system with role-based authentication, ensuring only verified students and teachers can access their respective dashboards and features.</a:t>
            </a:r>
          </a:p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800"/>
              </a:spcAft>
              <a:buChar char="3."/>
            </a:pPr>
            <a:r>
              <a:rPr lang="en-IN" altLang="en-US" sz="2000" b="1" dirty="0">
                <a:latin typeface="Times New Roman" panose="02020603050405020304" pitchFamily="18" charset="0"/>
              </a:rPr>
              <a:t>Interactive Discussion Forum: </a:t>
            </a:r>
            <a:r>
              <a:rPr lang="en-IN" altLang="en-US" sz="2000" b="0" dirty="0">
                <a:latin typeface="Times New Roman" panose="02020603050405020304" pitchFamily="18" charset="0"/>
              </a:rPr>
              <a:t>Created a structured discussion module enabling students to post academic doubts and receive prompt responses from faculty, improving communication and knowledge exchange.</a:t>
            </a:r>
          </a:p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800"/>
              </a:spcAft>
              <a:buChar char="4."/>
            </a:pPr>
            <a:r>
              <a:rPr lang="en-IN" altLang="en-US" sz="2000" b="1" dirty="0">
                <a:latin typeface="Times New Roman" panose="02020603050405020304" pitchFamily="18" charset="0"/>
              </a:rPr>
              <a:t>Attendance Management: </a:t>
            </a:r>
            <a:r>
              <a:rPr lang="en-IN" altLang="en-US" sz="2000" b="0" dirty="0">
                <a:latin typeface="Times New Roman" panose="02020603050405020304" pitchFamily="18" charset="0"/>
              </a:rPr>
              <a:t>Developed an attendance module where teachers can manage records and students can view their attendance, enhancing academic accountability.</a:t>
            </a:r>
          </a:p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800"/>
              </a:spcAft>
              <a:buChar char="5."/>
            </a:pPr>
            <a:r>
              <a:rPr lang="en-IN" altLang="en-US" sz="2000" b="1" dirty="0">
                <a:latin typeface="Times New Roman" panose="02020603050405020304" pitchFamily="18" charset="0"/>
              </a:rPr>
              <a:t>Cross-College Scalability: </a:t>
            </a:r>
            <a:r>
              <a:rPr lang="en-IN" altLang="en-US" sz="2000" b="0" dirty="0">
                <a:latin typeface="Times New Roman" panose="02020603050405020304" pitchFamily="18" charset="0"/>
              </a:rPr>
              <a:t>The platform is designed to be scalable and applicable across multiple colleges, supporting academic collaboration, resource sharing, and improved student-faculty interaction.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609B100C-491A-2E2B-F763-BCE2F7565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6. Technology Stack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CFBE54B4-F6D9-4B26-F5F5-202CAC021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566737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AutoNum type="arabicPeriod"/>
              <a:defRPr/>
            </a:pPr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-</a:t>
            </a:r>
            <a:r>
              <a:rPr lang="en-IN" sz="2400" dirty="0"/>
              <a:t>Flutter Framework, Dart Programming Language</a:t>
            </a:r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IN" sz="2400" dirty="0"/>
              <a:t>      Material Design (Material UI), </a:t>
            </a:r>
            <a:r>
              <a:rPr lang="en-IN" sz="2400" dirty="0" err="1"/>
              <a:t>GridView</a:t>
            </a:r>
            <a:r>
              <a:rPr lang="en-IN" sz="2400" dirty="0"/>
              <a:t> Layout </a:t>
            </a:r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</a:t>
            </a:r>
            <a:r>
              <a:rPr lang="en-IN" sz="2400" dirty="0"/>
              <a:t>- </a:t>
            </a:r>
            <a:r>
              <a:rPr lang="en-US" sz="2400" dirty="0"/>
              <a:t>Local In-Memory Database (Map in Dart)</a:t>
            </a:r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IN" sz="2400" dirty="0"/>
              <a:t>    Role-Based Authentication, Data Handling using Dart</a:t>
            </a:r>
            <a:endParaRPr lang="en-US" sz="2400" dirty="0"/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3EEFA1-657D-ED78-E7EE-1876B5098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1F7340-E5EE-5880-2EDB-437C7B491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262" y="247716"/>
            <a:ext cx="2010702" cy="4468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2F2FD9-AD0E-FD3D-5A94-D658B1F23E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640" y="1043533"/>
            <a:ext cx="2039807" cy="4532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EC3733-5745-8348-9889-13B15F5AC1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277" y="1547589"/>
            <a:ext cx="2130035" cy="47334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A1B369-08F9-B24F-D0B9-028173E75E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16" y="234431"/>
            <a:ext cx="2130035" cy="473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064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3A7A4EFB-00CA-9848-AF29-876B6B3C8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7. Block Diagram </a:t>
            </a:r>
            <a:r>
              <a:rPr lang="en-I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( if applicable)</a:t>
            </a:r>
            <a:endParaRPr lang="en-IN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1C390CD-F635-CA60-21A9-F8157E72D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0" name="Auth"/>
          <p:cNvSpPr>
            <a:spLocks noChangeArrowheads="1"/>
          </p:cNvSpPr>
          <p:nvPr/>
        </p:nvSpPr>
        <p:spPr>
          <a:xfrm>
            <a:off x="500000" y="1680000"/>
            <a:ext cx="8144000" cy="600000"/>
          </a:xfrm>
          <a:prstGeom prst="roundRect">
            <a:avLst>
              <a:gd name="adj" fmla="val 16667"/>
            </a:avLst>
          </a:prstGeom>
          <a:solidFill>
            <a:srgbClr val="CECBF6"/>
          </a:solidFill>
          <a:ln w="12700">
            <a:solidFill>
              <a:srgbClr val="534AB7"/>
            </a:solidFill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26215C"/>
                </a:solidFill>
                <a:latin typeface="Calibri"/>
              </a:rPr>
              <a:t>Login &amp; authentication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26215C"/>
                </a:solidFill>
                <a:latin typeface="Calibri"/>
              </a:rPr>
              <a:t>Email + password  ·  Role selection (Student / Teacher)  ·  Session management</a:t>
            </a:r>
          </a:p>
        </p:txBody>
      </p:sp>
      <p:sp>
        <p:nvSpPr>
          <p:cNvPr id="1001" name="Arr1"/>
          <p:cNvSpPr>
            <a:spLocks/>
          </p:cNvSpPr>
          <p:nvPr/>
        </p:nvSpPr>
        <p:spPr>
          <a:xfrm>
            <a:off x="4572000" y="2300000"/>
            <a:ext cx="0" cy="220000"/>
          </a:xfrm>
          <a:prstGeom prst="line">
            <a:avLst/>
          </a:prstGeom>
          <a:noFill/>
          <a:ln w="25400">
            <a:solidFill>
              <a:srgbClr val="888780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002" name="Router"/>
          <p:cNvSpPr>
            <a:spLocks noChangeArrowheads="1"/>
          </p:cNvSpPr>
          <p:nvPr/>
        </p:nvSpPr>
        <p:spPr>
          <a:xfrm>
            <a:off x="3472000" y="2520000"/>
            <a:ext cx="2200000" cy="460000"/>
          </a:xfrm>
          <a:prstGeom prst="roundRect">
            <a:avLst>
              <a:gd name="adj" fmla="val 16667"/>
            </a:avLst>
          </a:prstGeom>
          <a:solidFill>
            <a:srgbClr val="D3D1C7"/>
          </a:solidFill>
          <a:ln w="12700">
            <a:solidFill>
              <a:srgbClr val="888780"/>
            </a:solidFill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2C2C2A"/>
                </a:solidFill>
                <a:latin typeface="Calibri"/>
              </a:rPr>
              <a:t>Role-based router</a:t>
            </a:r>
          </a:p>
        </p:txBody>
      </p:sp>
      <p:sp>
        <p:nvSpPr>
          <p:cNvPr id="1003" name="ArrS"/>
          <p:cNvSpPr>
            <a:spLocks/>
          </p:cNvSpPr>
          <p:nvPr/>
        </p:nvSpPr>
        <p:spPr>
          <a:xfrm flipH="1">
            <a:off x="2496000" y="2980000"/>
            <a:ext cx="1526000" cy="240000"/>
          </a:xfrm>
          <a:prstGeom prst="line">
            <a:avLst/>
          </a:prstGeom>
          <a:noFill/>
          <a:ln w="25400">
            <a:solidFill>
              <a:srgbClr val="888780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004" name="ArrT"/>
          <p:cNvSpPr>
            <a:spLocks/>
          </p:cNvSpPr>
          <p:nvPr/>
        </p:nvSpPr>
        <p:spPr>
          <a:xfrm>
            <a:off x="5122000" y="2980000"/>
            <a:ext cx="1526000" cy="240000"/>
          </a:xfrm>
          <a:prstGeom prst="line">
            <a:avLst/>
          </a:prstGeom>
          <a:noFill/>
          <a:ln w="25400">
            <a:solidFill>
              <a:srgbClr val="888780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005" name="StudDash"/>
          <p:cNvSpPr>
            <a:spLocks noChangeArrowheads="1"/>
          </p:cNvSpPr>
          <p:nvPr/>
        </p:nvSpPr>
        <p:spPr>
          <a:xfrm>
            <a:off x="500000" y="3220000"/>
            <a:ext cx="3992000" cy="460000"/>
          </a:xfrm>
          <a:prstGeom prst="roundRect">
            <a:avLst>
              <a:gd name="adj" fmla="val 16667"/>
            </a:avLst>
          </a:prstGeom>
          <a:solidFill>
            <a:srgbClr val="9FE1CB"/>
          </a:solidFill>
          <a:ln w="12700">
            <a:solidFill>
              <a:srgbClr val="0F6E56"/>
            </a:solidFill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4342C"/>
                </a:solidFill>
                <a:latin typeface="Calibri"/>
              </a:rPr>
              <a:t>Student dashboard</a:t>
            </a:r>
          </a:p>
        </p:txBody>
      </p:sp>
      <p:sp>
        <p:nvSpPr>
          <p:cNvPr id="1006" name="TeachDash"/>
          <p:cNvSpPr>
            <a:spLocks noChangeArrowheads="1"/>
          </p:cNvSpPr>
          <p:nvPr/>
        </p:nvSpPr>
        <p:spPr>
          <a:xfrm>
            <a:off x="4652000" y="3220000"/>
            <a:ext cx="3992000" cy="460000"/>
          </a:xfrm>
          <a:prstGeom prst="roundRect">
            <a:avLst>
              <a:gd name="adj" fmla="val 16667"/>
            </a:avLst>
          </a:prstGeom>
          <a:solidFill>
            <a:srgbClr val="F5C4B3"/>
          </a:solidFill>
          <a:ln w="12700">
            <a:solidFill>
              <a:srgbClr val="993C1D"/>
            </a:solidFill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4A1B0C"/>
                </a:solidFill>
                <a:latin typeface="Calibri"/>
              </a:rPr>
              <a:t>Teacher dashboard</a:t>
            </a:r>
          </a:p>
        </p:txBody>
      </p:sp>
      <p:sp>
        <p:nvSpPr>
          <p:cNvPr id="1007" name="AS1007"/>
          <p:cNvSpPr>
            <a:spLocks/>
          </p:cNvSpPr>
          <p:nvPr/>
        </p:nvSpPr>
        <p:spPr>
          <a:xfrm>
            <a:off x="1158666" y="3680000"/>
            <a:ext cx="0" cy="240000"/>
          </a:xfrm>
          <a:prstGeom prst="line">
            <a:avLst/>
          </a:prstGeom>
          <a:noFill/>
          <a:ln w="25400">
            <a:solidFill>
              <a:srgbClr val="888780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008" name="AS1008"/>
          <p:cNvSpPr>
            <a:spLocks/>
          </p:cNvSpPr>
          <p:nvPr/>
        </p:nvSpPr>
        <p:spPr>
          <a:xfrm>
            <a:off x="2495999" y="3680000"/>
            <a:ext cx="0" cy="240000"/>
          </a:xfrm>
          <a:prstGeom prst="line">
            <a:avLst/>
          </a:prstGeom>
          <a:noFill/>
          <a:ln w="25400">
            <a:solidFill>
              <a:srgbClr val="888780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009" name="AS1009"/>
          <p:cNvSpPr>
            <a:spLocks/>
          </p:cNvSpPr>
          <p:nvPr/>
        </p:nvSpPr>
        <p:spPr>
          <a:xfrm>
            <a:off x="3833332" y="3680000"/>
            <a:ext cx="0" cy="240000"/>
          </a:xfrm>
          <a:prstGeom prst="line">
            <a:avLst/>
          </a:prstGeom>
          <a:noFill/>
          <a:ln w="25400">
            <a:solidFill>
              <a:srgbClr val="888780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010" name="AT1010"/>
          <p:cNvSpPr>
            <a:spLocks/>
          </p:cNvSpPr>
          <p:nvPr/>
        </p:nvSpPr>
        <p:spPr>
          <a:xfrm>
            <a:off x="5310666" y="3680000"/>
            <a:ext cx="0" cy="240000"/>
          </a:xfrm>
          <a:prstGeom prst="line">
            <a:avLst/>
          </a:prstGeom>
          <a:noFill/>
          <a:ln w="25400">
            <a:solidFill>
              <a:srgbClr val="888780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011" name="AT1011"/>
          <p:cNvSpPr>
            <a:spLocks/>
          </p:cNvSpPr>
          <p:nvPr/>
        </p:nvSpPr>
        <p:spPr>
          <a:xfrm>
            <a:off x="6647999" y="3680000"/>
            <a:ext cx="0" cy="240000"/>
          </a:xfrm>
          <a:prstGeom prst="line">
            <a:avLst/>
          </a:prstGeom>
          <a:noFill/>
          <a:ln w="25400">
            <a:solidFill>
              <a:srgbClr val="888780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012" name="AT1012"/>
          <p:cNvSpPr>
            <a:spLocks/>
          </p:cNvSpPr>
          <p:nvPr/>
        </p:nvSpPr>
        <p:spPr>
          <a:xfrm>
            <a:off x="7985332" y="3680000"/>
            <a:ext cx="0" cy="240000"/>
          </a:xfrm>
          <a:prstGeom prst="line">
            <a:avLst/>
          </a:prstGeom>
          <a:noFill/>
          <a:ln w="25400">
            <a:solidFill>
              <a:srgbClr val="888780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013" name="SM0"/>
          <p:cNvSpPr>
            <a:spLocks noChangeArrowheads="1"/>
          </p:cNvSpPr>
          <p:nvPr/>
        </p:nvSpPr>
        <p:spPr>
          <a:xfrm>
            <a:off x="500000" y="3920000"/>
            <a:ext cx="1317333" cy="480000"/>
          </a:xfrm>
          <a:prstGeom prst="roundRect">
            <a:avLst>
              <a:gd name="adj" fmla="val 16667"/>
            </a:avLst>
          </a:prstGeom>
          <a:solidFill>
            <a:srgbClr val="9FE1CB"/>
          </a:solidFill>
          <a:ln w="12700">
            <a:solidFill>
              <a:srgbClr val="0F6E56"/>
            </a:solidFill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04342C"/>
                </a:solidFill>
                <a:latin typeface="Calibri"/>
              </a:rPr>
              <a:t>Attendance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04342C"/>
                </a:solidFill>
                <a:latin typeface="Calibri"/>
              </a:rPr>
              <a:t>View records</a:t>
            </a:r>
          </a:p>
        </p:txBody>
      </p:sp>
      <p:sp>
        <p:nvSpPr>
          <p:cNvPr id="1014" name="SM1"/>
          <p:cNvSpPr>
            <a:spLocks noChangeArrowheads="1"/>
          </p:cNvSpPr>
          <p:nvPr/>
        </p:nvSpPr>
        <p:spPr>
          <a:xfrm>
            <a:off x="1837333" y="3920000"/>
            <a:ext cx="1317333" cy="480000"/>
          </a:xfrm>
          <a:prstGeom prst="roundRect">
            <a:avLst>
              <a:gd name="adj" fmla="val 16667"/>
            </a:avLst>
          </a:prstGeom>
          <a:solidFill>
            <a:srgbClr val="9FE1CB"/>
          </a:solidFill>
          <a:ln w="12700">
            <a:solidFill>
              <a:srgbClr val="0F6E56"/>
            </a:solidFill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04342C"/>
                </a:solidFill>
                <a:latin typeface="Calibri"/>
              </a:rPr>
              <a:t>Notes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04342C"/>
                </a:solidFill>
                <a:latin typeface="Calibri"/>
              </a:rPr>
              <a:t>Upload / download</a:t>
            </a:r>
          </a:p>
        </p:txBody>
      </p:sp>
      <p:sp>
        <p:nvSpPr>
          <p:cNvPr id="1015" name="SM2"/>
          <p:cNvSpPr>
            <a:spLocks noChangeArrowheads="1"/>
          </p:cNvSpPr>
          <p:nvPr/>
        </p:nvSpPr>
        <p:spPr>
          <a:xfrm>
            <a:off x="3174666" y="3920000"/>
            <a:ext cx="1317333" cy="480000"/>
          </a:xfrm>
          <a:prstGeom prst="roundRect">
            <a:avLst>
              <a:gd name="adj" fmla="val 16667"/>
            </a:avLst>
          </a:prstGeom>
          <a:solidFill>
            <a:srgbClr val="9FE1CB"/>
          </a:solidFill>
          <a:ln w="12700">
            <a:solidFill>
              <a:srgbClr val="0F6E56"/>
            </a:solidFill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04342C"/>
                </a:solidFill>
                <a:latin typeface="Calibri"/>
              </a:rPr>
              <a:t>Discussion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04342C"/>
                </a:solidFill>
                <a:latin typeface="Calibri"/>
              </a:rPr>
              <a:t>Ask doubts</a:t>
            </a:r>
          </a:p>
        </p:txBody>
      </p:sp>
      <p:sp>
        <p:nvSpPr>
          <p:cNvPr id="1016" name="TM0"/>
          <p:cNvSpPr>
            <a:spLocks noChangeArrowheads="1"/>
          </p:cNvSpPr>
          <p:nvPr/>
        </p:nvSpPr>
        <p:spPr>
          <a:xfrm>
            <a:off x="4652000" y="3920000"/>
            <a:ext cx="1317333" cy="480000"/>
          </a:xfrm>
          <a:prstGeom prst="roundRect">
            <a:avLst>
              <a:gd name="adj" fmla="val 16667"/>
            </a:avLst>
          </a:prstGeom>
          <a:solidFill>
            <a:srgbClr val="F5C4B3"/>
          </a:solidFill>
          <a:ln w="12700">
            <a:solidFill>
              <a:srgbClr val="993C1D"/>
            </a:solidFill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4A1B0C"/>
                </a:solidFill>
                <a:latin typeface="Calibri"/>
              </a:rPr>
              <a:t>Attendance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4A1B0C"/>
                </a:solidFill>
                <a:latin typeface="Calibri"/>
              </a:rPr>
              <a:t>Manage records</a:t>
            </a:r>
          </a:p>
        </p:txBody>
      </p:sp>
      <p:sp>
        <p:nvSpPr>
          <p:cNvPr id="1017" name="TM1"/>
          <p:cNvSpPr>
            <a:spLocks noChangeArrowheads="1"/>
          </p:cNvSpPr>
          <p:nvPr/>
        </p:nvSpPr>
        <p:spPr>
          <a:xfrm>
            <a:off x="5989333" y="3920000"/>
            <a:ext cx="1317333" cy="480000"/>
          </a:xfrm>
          <a:prstGeom prst="roundRect">
            <a:avLst>
              <a:gd name="adj" fmla="val 16667"/>
            </a:avLst>
          </a:prstGeom>
          <a:solidFill>
            <a:srgbClr val="F5C4B3"/>
          </a:solidFill>
          <a:ln w="12700">
            <a:solidFill>
              <a:srgbClr val="993C1D"/>
            </a:solidFill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4A1B0C"/>
                </a:solidFill>
                <a:latin typeface="Calibri"/>
              </a:rPr>
              <a:t>Discussion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4A1B0C"/>
                </a:solidFill>
                <a:latin typeface="Calibri"/>
              </a:rPr>
              <a:t>Reply to doubts</a:t>
            </a:r>
          </a:p>
        </p:txBody>
      </p:sp>
      <p:sp>
        <p:nvSpPr>
          <p:cNvPr id="1018" name="TM2"/>
          <p:cNvSpPr>
            <a:spLocks noChangeArrowheads="1"/>
          </p:cNvSpPr>
          <p:nvPr/>
        </p:nvSpPr>
        <p:spPr>
          <a:xfrm>
            <a:off x="7326666" y="3920000"/>
            <a:ext cx="1317333" cy="480000"/>
          </a:xfrm>
          <a:prstGeom prst="roundRect">
            <a:avLst>
              <a:gd name="adj" fmla="val 16667"/>
            </a:avLst>
          </a:prstGeom>
          <a:solidFill>
            <a:srgbClr val="F5C4B3"/>
          </a:solidFill>
          <a:ln w="12700">
            <a:solidFill>
              <a:srgbClr val="993C1D"/>
            </a:solidFill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4A1B0C"/>
                </a:solidFill>
                <a:latin typeface="Calibri"/>
              </a:rPr>
              <a:t>Assignments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4A1B0C"/>
                </a:solidFill>
                <a:latin typeface="Calibri"/>
              </a:rPr>
              <a:t>Upload tasks</a:t>
            </a:r>
          </a:p>
        </p:txBody>
      </p:sp>
      <p:sp>
        <p:nvSpPr>
          <p:cNvPr id="1019" name="AMS1019"/>
          <p:cNvSpPr>
            <a:spLocks/>
          </p:cNvSpPr>
          <p:nvPr/>
        </p:nvSpPr>
        <p:spPr>
          <a:xfrm>
            <a:off x="2725999" y="4400000"/>
            <a:ext cx="0" cy="240000"/>
          </a:xfrm>
          <a:prstGeom prst="line">
            <a:avLst/>
          </a:prstGeom>
          <a:noFill/>
          <a:ln w="25400">
            <a:solidFill>
              <a:srgbClr val="888780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020" name="AMS1020"/>
          <p:cNvSpPr>
            <a:spLocks/>
          </p:cNvSpPr>
          <p:nvPr/>
        </p:nvSpPr>
        <p:spPr>
          <a:xfrm>
            <a:off x="8953999" y="4400000"/>
            <a:ext cx="0" cy="240000"/>
          </a:xfrm>
          <a:prstGeom prst="line">
            <a:avLst/>
          </a:prstGeom>
          <a:noFill/>
          <a:ln w="25400">
            <a:solidFill>
              <a:srgbClr val="888780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021" name="AMSstud"/>
          <p:cNvSpPr>
            <a:spLocks/>
          </p:cNvSpPr>
          <p:nvPr/>
        </p:nvSpPr>
        <p:spPr>
          <a:xfrm>
            <a:off x="2496000" y="4400000"/>
            <a:ext cx="0" cy="240000"/>
          </a:xfrm>
          <a:prstGeom prst="line">
            <a:avLst/>
          </a:prstGeom>
          <a:noFill/>
          <a:ln w="25400">
            <a:solidFill>
              <a:srgbClr val="888780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022" name="AMSteach"/>
          <p:cNvSpPr>
            <a:spLocks/>
          </p:cNvSpPr>
          <p:nvPr/>
        </p:nvSpPr>
        <p:spPr>
          <a:xfrm>
            <a:off x="6648000" y="4400000"/>
            <a:ext cx="0" cy="240000"/>
          </a:xfrm>
          <a:prstGeom prst="line">
            <a:avLst/>
          </a:prstGeom>
          <a:noFill/>
          <a:ln w="25400">
            <a:solidFill>
              <a:srgbClr val="888780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023" name="Shared"/>
          <p:cNvSpPr>
            <a:spLocks noChangeArrowheads="1"/>
          </p:cNvSpPr>
          <p:nvPr/>
        </p:nvSpPr>
        <p:spPr>
          <a:xfrm>
            <a:off x="500000" y="4640000"/>
            <a:ext cx="8144000" cy="600000"/>
          </a:xfrm>
          <a:prstGeom prst="roundRect">
            <a:avLst>
              <a:gd name="adj" fmla="val 16667"/>
            </a:avLst>
          </a:prstGeom>
          <a:solidFill>
            <a:srgbClr val="B5D4F4"/>
          </a:solidFill>
          <a:ln w="12700">
            <a:solidFill>
              <a:srgbClr val="185FA5"/>
            </a:solidFill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42C53"/>
                </a:solidFill>
                <a:latin typeface="Calibri"/>
              </a:rPr>
              <a:t>Shared data layer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42C53"/>
                </a:solidFill>
                <a:latin typeface="Calibri"/>
              </a:rPr>
              <a:t>In-memory store (Dart Map)  ·  Subject/year-wise organisation  ·  Assignment files</a:t>
            </a:r>
          </a:p>
        </p:txBody>
      </p:sp>
      <p:sp>
        <p:nvSpPr>
          <p:cNvPr id="1024" name="Arr5"/>
          <p:cNvSpPr>
            <a:spLocks/>
          </p:cNvSpPr>
          <p:nvPr/>
        </p:nvSpPr>
        <p:spPr>
          <a:xfrm>
            <a:off x="4572000" y="5260000"/>
            <a:ext cx="0" cy="220000"/>
          </a:xfrm>
          <a:prstGeom prst="line">
            <a:avLst/>
          </a:prstGeom>
          <a:noFill/>
          <a:ln w="25400">
            <a:solidFill>
              <a:srgbClr val="888780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025" name="Tech"/>
          <p:cNvSpPr>
            <a:spLocks noChangeArrowheads="1"/>
          </p:cNvSpPr>
          <p:nvPr/>
        </p:nvSpPr>
        <p:spPr>
          <a:xfrm>
            <a:off x="500000" y="5480000"/>
            <a:ext cx="8144000" cy="600000"/>
          </a:xfrm>
          <a:prstGeom prst="roundRect">
            <a:avLst>
              <a:gd name="adj" fmla="val 16667"/>
            </a:avLst>
          </a:prstGeom>
          <a:solidFill>
            <a:srgbClr val="D3D1C7"/>
          </a:solidFill>
          <a:ln w="12700">
            <a:solidFill>
              <a:srgbClr val="5F5E5A"/>
            </a:solidFill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2C2C2A"/>
                </a:solidFill>
                <a:latin typeface="Calibri"/>
              </a:rPr>
              <a:t>Technology stack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2C2C2A"/>
                </a:solidFill>
                <a:latin typeface="Calibri"/>
              </a:rPr>
              <a:t>Flutter  ·  Dart  ·  Material UI  ·  GridView  ·  Role-based auth  ·  Local in-memory DB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>
            <a:extLst>
              <a:ext uri="{FF2B5EF4-FFF2-40B4-BE49-F238E27FC236}">
                <a16:creationId xmlns:a16="http://schemas.microsoft.com/office/drawing/2014/main" id="{8AD267ED-F616-CB0F-A96D-6F3C44F4A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057525"/>
            <a:ext cx="9070975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Thank You...!!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208</TotalTime>
  <Words>879</Words>
  <Application>Microsoft Office PowerPoint</Application>
  <PresentationFormat>Custom</PresentationFormat>
  <Paragraphs>127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DejaVu Sans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 b</dc:creator>
  <cp:lastModifiedBy>Kartik Nair</cp:lastModifiedBy>
  <cp:revision>24</cp:revision>
  <cp:lastPrinted>2022-08-20T08:09:49Z</cp:lastPrinted>
  <dcterms:created xsi:type="dcterms:W3CDTF">2017-10-25T08:22:14Z</dcterms:created>
  <dcterms:modified xsi:type="dcterms:W3CDTF">2026-04-01T06:34:47Z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